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3a8acb21d4133" /><Relationship Type="http://schemas.openxmlformats.org/officeDocument/2006/relationships/extended-properties" Target="/docProps/app.xml" Id="R212ad73384ba49f2" /><Relationship Type="http://schemas.openxmlformats.org/officeDocument/2006/relationships/officeDocument" Target="/ppt/presentation.xml" Id="R59345b29e6dc41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b5adb67f984582"/>
  </p:sldMasterIdLst>
  <p:notesMasterIdLst>
    <p:notesMasterId xmlns:r="http://schemas.openxmlformats.org/officeDocument/2006/relationships" r:id="R2b7254a0c6e24649"/>
  </p:notesMasterIdLst>
  <p:sldIdLst>
    <p:sldId xmlns:r="http://schemas.openxmlformats.org/officeDocument/2006/relationships" id="256" r:id="R37d57e82a28e43b8"/>
    <p:sldId xmlns:r="http://schemas.openxmlformats.org/officeDocument/2006/relationships" id="257" r:id="R2031416a1a1241e7"/>
    <p:sldId xmlns:r="http://schemas.openxmlformats.org/officeDocument/2006/relationships" id="258" r:id="R4554f9d40be743be"/>
    <p:sldId xmlns:r="http://schemas.openxmlformats.org/officeDocument/2006/relationships" id="259" r:id="R3028883eade940c5"/>
    <p:sldId xmlns:r="http://schemas.openxmlformats.org/officeDocument/2006/relationships" id="260" r:id="R4ad7663f24fb49db"/>
    <p:sldId xmlns:r="http://schemas.openxmlformats.org/officeDocument/2006/relationships" id="261" r:id="R9c7f0f428987428b"/>
    <p:sldId xmlns:r="http://schemas.openxmlformats.org/officeDocument/2006/relationships" id="262" r:id="Rd24f6bd05bb8415e"/>
    <p:sldId xmlns:r="http://schemas.openxmlformats.org/officeDocument/2006/relationships" id="263" r:id="R73f66b0259f04bc7"/>
    <p:sldId xmlns:r="http://schemas.openxmlformats.org/officeDocument/2006/relationships" id="264" r:id="R6d9de1f1d9584016"/>
    <p:sldId xmlns:r="http://schemas.openxmlformats.org/officeDocument/2006/relationships" id="265" r:id="R2b2a21dcd42147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870eb4a114623" /><Relationship Type="http://schemas.openxmlformats.org/officeDocument/2006/relationships/slideMaster" Target="/ppt/slideMasters/slideMaster1.xml" Id="Rb3b5adb67f984582" /><Relationship Type="http://schemas.openxmlformats.org/officeDocument/2006/relationships/notesMaster" Target="/ppt/notesMasters/notesMaster1.xml" Id="R2b7254a0c6e24649" /><Relationship Type="http://schemas.openxmlformats.org/officeDocument/2006/relationships/presProps" Target="/ppt/presProps.xml" Id="R1facb7cc2c05454c" /><Relationship Type="http://schemas.openxmlformats.org/officeDocument/2006/relationships/tableStyles" Target="/ppt/tableStyles.xml" Id="R795f097892e54584" /><Relationship Type="http://schemas.openxmlformats.org/officeDocument/2006/relationships/slide" Target="/ppt/slides/slide1.xml" Id="R37d57e82a28e43b8" /><Relationship Type="http://schemas.openxmlformats.org/officeDocument/2006/relationships/slide" Target="/ppt/slides/slide2.xml" Id="R2031416a1a1241e7" /><Relationship Type="http://schemas.openxmlformats.org/officeDocument/2006/relationships/slide" Target="/ppt/slides/slide3.xml" Id="R4554f9d40be743be" /><Relationship Type="http://schemas.openxmlformats.org/officeDocument/2006/relationships/slide" Target="/ppt/slides/slide4.xml" Id="R3028883eade940c5" /><Relationship Type="http://schemas.openxmlformats.org/officeDocument/2006/relationships/slide" Target="/ppt/slides/slide5.xml" Id="R4ad7663f24fb49db" /><Relationship Type="http://schemas.openxmlformats.org/officeDocument/2006/relationships/slide" Target="/ppt/slides/slide6.xml" Id="R9c7f0f428987428b" /><Relationship Type="http://schemas.openxmlformats.org/officeDocument/2006/relationships/slide" Target="/ppt/slides/slide7.xml" Id="Rd24f6bd05bb8415e" /><Relationship Type="http://schemas.openxmlformats.org/officeDocument/2006/relationships/slide" Target="/ppt/slides/slide8.xml" Id="R73f66b0259f04bc7" /><Relationship Type="http://schemas.openxmlformats.org/officeDocument/2006/relationships/slide" Target="/ppt/slides/slide9.xml" Id="R6d9de1f1d9584016" /><Relationship Type="http://schemas.openxmlformats.org/officeDocument/2006/relationships/slide" Target="/ppt/slides/slide10.xml" Id="R2b2a21dcd421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4db118556c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9a35ea0d254e8d" /><Relationship Type="http://schemas.openxmlformats.org/officeDocument/2006/relationships/notesMaster" Target="/ppt/notesMasters/notesMaster1.xml" Id="Rd06bc49c1fc34a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68e514bd2c4a31" /><Relationship Type="http://schemas.openxmlformats.org/officeDocument/2006/relationships/notesMaster" Target="/ppt/notesMasters/notesMaster1.xml" Id="Reb7a321471e640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79236fd6764d5c" /><Relationship Type="http://schemas.openxmlformats.org/officeDocument/2006/relationships/notesMaster" Target="/ppt/notesMasters/notesMaster1.xml" Id="Rca1708694327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938e55f52242c6" /><Relationship Type="http://schemas.openxmlformats.org/officeDocument/2006/relationships/notesMaster" Target="/ppt/notesMasters/notesMaster1.xml" Id="R1a81ff5727c14b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ecde19b3d4549" /><Relationship Type="http://schemas.openxmlformats.org/officeDocument/2006/relationships/notesMaster" Target="/ppt/notesMasters/notesMaster1.xml" Id="R0ee6bae271ca40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9385aa16634d21" /><Relationship Type="http://schemas.openxmlformats.org/officeDocument/2006/relationships/notesMaster" Target="/ppt/notesMasters/notesMaster1.xml" Id="Raf496e691a6c4b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40ab376e994c02" /><Relationship Type="http://schemas.openxmlformats.org/officeDocument/2006/relationships/notesMaster" Target="/ppt/notesMasters/notesMaster1.xml" Id="Rfdd9b992607c49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b385a84d84750" /><Relationship Type="http://schemas.openxmlformats.org/officeDocument/2006/relationships/notesMaster" Target="/ppt/notesMasters/notesMaster1.xml" Id="Ra2a04332d81041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060113c59843cb" /><Relationship Type="http://schemas.openxmlformats.org/officeDocument/2006/relationships/notesMaster" Target="/ppt/notesMasters/notesMaster1.xml" Id="R4d1d0ac4c0db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aa548df1a94505" /><Relationship Type="http://schemas.openxmlformats.org/officeDocument/2006/relationships/notesMaster" Target="/ppt/notesMasters/notesMaster1.xml" Id="Raa0dee15dbd4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공식 홈페이지 http://www.kgf.co.kr/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2026-09-01. 항목별 점수: A1 6, A2 4, B1 2, B2 2, B3 2, B4 2, B5 3, B6 3, B7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AI훈련컨설팅 구성요약,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공식 홈페이지 http://www.kgf.co.kr/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LK Samyang AI Level Diagnosis PPTX: session scenario structure reference only</a:t>
            </a:r>
          </a:p>
          <a:p xmlns:a="http://schemas.openxmlformats.org/drawingml/2006/main">
            <a:r>
              <a:t>KGF AI훈련컨설팅 구성요약,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공식 홈페이지 http://www.kgf.co.kr/</a:t>
            </a:r>
          </a:p>
          <a:p xmlns:a="http://schemas.openxmlformats.org/drawingml/2006/main">
            <a:r>
              <a:t>KGF AI훈련코치(강사회) 결과분석 보고서,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AI훈련컨설팅 구성요약,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AI훈련컨설팅 구성요약,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KGF AI훈련코치(강사회) 결과분석 보고서, 2026-09-01</a:t>
            </a:r>
          </a:p>
          <a:p xmlns:a="http://schemas.openxmlformats.org/drawingml/2006/main">
            <a:r>
              <a:t>KGF AI훈련컨설팅 구성요약, 2026-09-01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f063a82df4e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7e76758754df6" /><Relationship Type="http://schemas.openxmlformats.org/officeDocument/2006/relationships/slideLayout" Target="/ppt/slideLayouts/slideLayout1.xml" Id="Ra2e085d47299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e085d47299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a4aec6e344cd" /><Relationship Type="http://schemas.openxmlformats.org/officeDocument/2006/relationships/notesSlide" Target="/ppt/notesSlides/notesSlide1.xml" Id="R7f48feb1647c4f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e821f207c4ee3" /><Relationship Type="http://schemas.openxmlformats.org/officeDocument/2006/relationships/notesSlide" Target="/ppt/notesSlides/notesSlide2.xml" Id="R901f45b942624a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cca9563c646b8" /><Relationship Type="http://schemas.openxmlformats.org/officeDocument/2006/relationships/notesSlide" Target="/ppt/notesSlides/notesSlide3.xml" Id="R13b5505f532e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0ecb6ecee4ff8" /><Relationship Type="http://schemas.openxmlformats.org/officeDocument/2006/relationships/notesSlide" Target="/ppt/notesSlides/notesSlide4.xml" Id="R9e4b7bc75665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722569f37447a" /><Relationship Type="http://schemas.openxmlformats.org/officeDocument/2006/relationships/notesSlide" Target="/ppt/notesSlides/notesSlide5.xml" Id="R3bd6de6b3cd44b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b6444e6af48a2" /><Relationship Type="http://schemas.openxmlformats.org/officeDocument/2006/relationships/notesSlide" Target="/ppt/notesSlides/notesSlide6.xml" Id="Rb9880187b05b4a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e3a12b5fa40d0" /><Relationship Type="http://schemas.openxmlformats.org/officeDocument/2006/relationships/notesSlide" Target="/ppt/notesSlides/notesSlide7.xml" Id="Rb9586a905f2e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ed3ab353c4e2b" /><Relationship Type="http://schemas.openxmlformats.org/officeDocument/2006/relationships/notesSlide" Target="/ppt/notesSlides/notesSlide8.xml" Id="R6229309d6bba41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06fc0c1b04df6" /><Relationship Type="http://schemas.openxmlformats.org/officeDocument/2006/relationships/notesSlide" Target="/ppt/notesSlides/notesSlide9.xml" Id="R2c04827ac6db44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02a12169840df" /><Relationship Type="http://schemas.openxmlformats.org/officeDocument/2006/relationships/notesSlide" Target="/ppt/notesSlides/notesSlide10.xml" Id="R6016e5b127234c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63AA1-F9E4-43BB-A852-E442BDF0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9FE2C-E862-4FE4-BA4C-D5110F59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8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ED925-085F-4FDA-AAF2-3BF4C00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5260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15B09-BEFE-469F-BE2F-A950864F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5EF"/>
                </a:solidFill>
              </a:defRPr>
            </a:pPr>
            <a:r>
              <a:rPr sz="1350" b="1">
                <a:solidFill>
                  <a:srgbClr val="D8F5EF"/>
                </a:solidFill>
              </a:rPr>
              <a:t>KGF Co.,Ltd.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3BFB6-4735-4390-AB56-C6E8EEFE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 훈련로드맵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사전 수준진단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26816-2BC7-4253-BE2D-9EB2F8A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현장 컨설팅용 | 진단 해석 · 현장 확인 · 과제 도출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65505-0FB0-438A-964C-FF051C2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1267D-200D-4F70-9077-DF37D7C8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576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52B31"/>
                </a:solidFill>
              </a:defRPr>
            </a:pPr>
            <a:r>
              <a:rPr sz="2400" b="1">
                <a:solidFill>
                  <a:srgbClr val="D52B31"/>
                </a:solidFill>
              </a:rPr>
              <a:t>26점 · Level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E285C-DBA3-43AB-B025-89618667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AX 입문 및 보안 체계 정비 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3262B-0DD0-4E3B-9393-86F9A26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3C8"/>
                </a:solidFill>
              </a:defRPr>
            </a:pPr>
            <a:r>
              <a:rPr sz="825" b="0">
                <a:solidFill>
                  <a:srgbClr val="9FB3C8"/>
                </a:solidFill>
              </a:rPr>
              <a:t>근거: KGF AI훈련코치 결과분석 보고서(2026.09) · KGF 공식 홈페이지</a:t>
            </a:r>
          </a:p>
        </p:txBody>
      </p:sp>
    </p:spTree>
    <p:extLst>
      <p:ext uri="{BB962C8B-B14F-4D97-AF65-F5344CB8AC3E}">
        <p14:creationId xmlns:p14="http://schemas.microsoft.com/office/powerpoint/2010/main" val="612493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68523B-8422-466D-85A1-647260F0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EE6B8-74CB-4133-BDAC-DC3DAEB5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0D5B0-628F-4995-B2BC-D0AF02F8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01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D6C2A-EFC1-4A7A-9BEF-ED74E448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DD0CE-D8A1-493F-9DA2-39C569AB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525AE-CD1A-4508-B830-C367456B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EC13F-C28C-4622-9D6B-287E2A4A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1. 진단 결과 한 장 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FA37C-E2E9-4DF9-B69E-7D70FCC4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26점을 낮은 점수로 단정하지 않고, AI 활용을 시작하기 위한 준비 순서로 해석합니다.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BC78C-DFA7-43A2-A0E2-02B7AF19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BDEB8-E6BB-4D07-9AE2-C58697B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총점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F2BC1-530B-42E3-8A30-3EC6B22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52B31"/>
                </a:solidFill>
              </a:defRPr>
            </a:pPr>
            <a:r>
              <a:rPr sz="2400" b="1">
                <a:solidFill>
                  <a:srgbClr val="D52B31"/>
                </a:solidFill>
              </a:rPr>
              <a:t>26점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F916C-7258-40D2-AB22-E337441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사전 수준진단 합계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4E64F-948B-42B9-8A1E-508B5CE7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526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1B050-EF05-478B-B792-B8B429AC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등급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77A87-DECC-4329-9CD6-F7C6320A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52B31"/>
                </a:solidFill>
              </a:defRPr>
            </a:pPr>
            <a:r>
              <a:rPr sz="2400" b="1">
                <a:solidFill>
                  <a:srgbClr val="D52B31"/>
                </a:solidFill>
              </a:rPr>
              <a:t>Level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39FCD-7C4F-4AFB-BE24-21EDB82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AX 입문 단계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3816A-C425-42A5-8B99-64B928CB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E858C-F037-44A5-97A9-42E237FD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권장 방향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5088A-1E76-48FF-BF60-118C8833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06F"/>
                </a:solidFill>
              </a:defRPr>
            </a:pPr>
            <a:r>
              <a:rPr sz="2400" b="1">
                <a:solidFill>
                  <a:srgbClr val="16806F"/>
                </a:solidFill>
              </a:rPr>
              <a:t>보안·양식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73FEF-15A3-4D55-B041-D9661F34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81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AI 사용기준과 데이터 책임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F19A-24A9-4E6D-9736-845916D1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A4C783-49DB-4020-8275-10C6555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핵심 판단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2F140-2505-4C9B-A199-B7348E2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765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06F"/>
                </a:solidFill>
              </a:defRPr>
            </a:pPr>
            <a:r>
              <a:rPr sz="2400" b="1">
                <a:solidFill>
                  <a:srgbClr val="16806F"/>
                </a:solidFill>
              </a:rPr>
              <a:t>작게 시작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DDC47-FAA9-4B16-A41A-32BEE2C2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</a:defRPr>
            </a:pPr>
            <a:r>
              <a:rPr sz="975" b="0">
                <a:solidFill>
                  <a:srgbClr val="627D98"/>
                </a:solidFill>
              </a:rPr>
              <a:t>보고·요약·분류부터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E6B0C-E026-4B35-9B38-6C2F861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143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FEDF2-8F66-44BE-ADD2-931AF95E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EBA15-081C-44F9-A7EC-67F796C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현재 강점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FBC77F-0402-4349-AF34-7AB9FFD3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F591F-BF16-4F78-BC87-23B75F0B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시스템 항목 6점: 기본 운영 기반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D0CE8C-7324-4075-BC54-D2DE6F46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922AA-6859-4BD9-8671-1744BEB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863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품질 데이터 활용 가능성 확인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B98F73-600F-4DFE-9C13-8041C13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B2115-470D-4889-BFD2-176CE205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생산·품질 부서의 명확한 훈련 수요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4B0F2B-E209-4E57-AD44-C29D2FB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5143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541A95-40C5-445C-8664-2B25BA9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95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23FAB-4522-4979-A400-0B290806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우선 보완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C82D46-CA52-46A9-89AB-0016489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F7127-4FC9-439E-96EA-D695E046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AI 이해·보안·노코드 분석 각 2점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3B676-5D0C-4ABE-AA56-DE31A70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53087-EFFB-4CF3-BD49-6CD62652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8635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데이터 검증·IT 실행 책임체계 정리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2D0A3C-E900-4523-9A6B-FD44914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24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BA0CD-E171-42F4-806A-15672271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48300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제한된 범위의 업무 자동화 파일럿</a:t>
            </a:r>
          </a:p>
        </p:txBody>
      </p:sp>
    </p:spTree>
    <p:extLst>
      <p:ext uri="{BB962C8B-B14F-4D97-AF65-F5344CB8AC3E}">
        <p14:creationId xmlns:p14="http://schemas.microsoft.com/office/powerpoint/2010/main" val="1236152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D0DA8A-E4B5-47F1-9B0D-C56F89A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DCCC6-3003-49C2-8EB7-2FE061DC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FCDBB-5E27-4F24-99E0-4262481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02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D6FF1-CCC4-4193-BE7C-312AACC0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B93FA-E544-4EDC-BDA5-0E7262B0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5943D-42BB-40C0-8FEB-C674AA42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FD03F-99D5-4804-9D99-AD2F2853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2. 항목별 진단: 점수보다 준비 순서를 봅니다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307A-A075-4DA7-82C3-F1F811A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15점 만점 항목(B5·B6)은 득점률로 함께 보며, 첫 과제는 낮은 영역의 기초 정비에 둡니다.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ACF9C-5855-41D7-B76F-D270AE10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029F1-B382-4D84-9A74-941CE724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8122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87D99-0A1F-48FA-B7F9-9711761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81225"/>
            <a:ext cx="388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3996-83D7-4F98-B3FD-0E5711B2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240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6806F"/>
                </a:solidFill>
              </a:defRPr>
            </a:pPr>
            <a:r>
              <a:rPr sz="1200" b="1">
                <a:solidFill>
                  <a:srgbClr val="16806F"/>
                </a:solidFill>
              </a:rPr>
              <a:t>6/10점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DA91D-B4EB-42A4-A68A-C39E356B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240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60%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C7D90-E402-456B-B02E-B38953FA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데이터 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F6A6A-BB6E-4333-A2F4-3C7A453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036A1-33D3-4893-BAA6-52748BEA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2590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34235-331A-4E2F-937F-9CE36225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4/10점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A34AF-1B90-439F-9498-8013BCFF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241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40%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C4F76C-D7C7-4028-807F-D6F22F91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AI 이해·활용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23918-766C-4614-87F6-720DD66D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8132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CA842-AAC1-48C1-9B1C-BFC19856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8132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185B1-C76E-4A76-ACB1-30F46B20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2/10점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B354A-50B0-4628-B959-F2BD8885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241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2E5C3-B81B-458F-B5EA-9D2A5B3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AI 데이터 보안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38DC9-1D5E-4AC1-AD77-EBA0E025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8137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AB8C6-1A5A-45A4-B9B9-6D023243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8137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AC94C-1406-422E-BABD-6DECB13C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242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2/10점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478DE-CFDF-4CCD-B234-DD334A99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242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FC1047-9571-4600-A30B-0E439815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노코드 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3E3980-CBA7-4730-AB15-BF495A49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8142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C80D1-C26E-44DF-9596-D0312A3B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8142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D472C-A0D6-4884-959D-8A844531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242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2/10점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9CC5C0-BE4E-4D56-89E4-53E5EE9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242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6CF46-5984-4A29-B96C-0B3E4C7B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데이터 검증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13A112-87D3-40D7-B30C-EE4B4F89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8147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A39629-02DA-43B9-AD5F-04721552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8147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0247DD-6357-49C8-A7B0-A8A21DE9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1243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2/10점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80DF3-4AC7-453D-B886-5C2F2076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243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B0BAD6-8CA5-4F4F-AAB7-0D2A199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바이브코딩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14C980-8FD0-4119-B7E4-79E6139A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8152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D05A8-381A-422A-AF74-4DC0006D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8152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91E64C-DED3-40E9-BB9D-16C78EA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24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3/15점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149A93-F1B5-4777-9B69-64D56BC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5243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B6A487-3319-45F3-917C-0305DC5D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제조/피지컬 AI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E7D4AE-4EF6-4FF0-B5A5-2482820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8157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5234C6-C8CD-43DB-BF19-EA214E8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98157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8DC5C4-C4EC-4702-899E-1E0099B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24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3/15점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A6CAB0-2B45-4604-BD35-670B1F16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92442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32BF97-8E7C-476F-857F-3A72AE02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53"/>
                </a:solidFill>
              </a:defRPr>
            </a:pPr>
            <a:r>
              <a:rPr sz="1200" b="1">
                <a:solidFill>
                  <a:srgbClr val="243B53"/>
                </a:solidFill>
              </a:rPr>
              <a:t>IT 실행체계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47DDBA-B069-43FB-A88E-AFE4EBAE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81625"/>
            <a:ext cx="647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9087B0-C037-45BA-8BCF-4ABEA945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381625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D8EB79-80DA-4CD9-854D-E86F544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3244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2/10점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2C9F45-5D1A-4385-B314-5C94E1F0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324475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7D98"/>
                </a:solidFill>
              </a:defRPr>
            </a:pPr>
            <a:r>
              <a:rPr sz="1200" b="1">
                <a:solidFill>
                  <a:srgbClr val="627D98"/>
                </a:solidFill>
              </a:rPr>
              <a:t>20%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807E9C-3794-45A1-8EB3-60B0D77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287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9525">
            <a:solidFill>
              <a:srgbClr val="B7DF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A54529-15A8-424D-B467-7FF264FA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6265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핵심 해석: 전사 시스템 투자보다 ‘보안 기준 + 공용 데이터 양식 + 반복 보고 자동화’의 순서가 적합합니다.</a:t>
            </a:r>
          </a:p>
        </p:txBody>
      </p:sp>
    </p:spTree>
    <p:extLst>
      <p:ext uri="{BB962C8B-B14F-4D97-AF65-F5344CB8AC3E}">
        <p14:creationId xmlns:p14="http://schemas.microsoft.com/office/powerpoint/2010/main" val="1107319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9EE3C-00AB-49C0-A13B-FB42BAE5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EB9EC-5EEC-4D47-BF91-DE42D3DE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9D277-35AD-48B0-A0C8-D9C7A94C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03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226B4-C3C7-4165-B5E0-4EEFE849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5FAB5-03C9-467E-ACB9-A901B3F8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67AA5-C873-4564-941E-FF46DAD5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7EBBA-9A75-4B99-9955-C0A2422D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3. 컨설팅 해석: ‘도입’보다 ‘사용 가능한 기준’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539EB-89E4-431D-A035-6E8413AA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현재 단계에서는 새 플랫폼보다, 기존 자료를 안전하게 쓰고 검토하는 업무 습관을 먼저 만듭니다.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69981-7432-470F-987F-5D926AAC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14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8968A-7C59-42DE-BE09-C2470A98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49A17-CE38-4366-88CE-CD8A34BD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현재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19593-A744-46F0-A358-6AD4E6D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B5286-C800-46D5-929A-516A626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기본 시스템 활용 가능성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644F5-BD10-421F-B64D-46DA715D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F83BF-38D0-4F23-83AF-522F4C8F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품질 데이터 보유 단서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151B4-39D8-435F-A153-95AFB716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2E193-1646-4A7F-8AE8-23050E6F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생성형 AI·노코드 활용은 초기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CD0F0-9F47-414F-931A-7B2B0574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FB4E0-4E72-4901-9700-305CC089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데이터·검토 책임이 분산될 가능성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0E193-79D2-492D-9888-FEB09869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314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B51C6-8CF2-4315-BF90-1A792BC6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B6DFA-8783-4681-AB10-96B6B51F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전환 과제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D9B12-C81C-45EB-8A97-DD4F934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489C2-D88E-41F4-931C-47F8EBB3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14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민감정보 입력 금지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28770-9533-4B3F-988B-1CEC62CB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C46FF-4250-40BF-A3D3-C5AB024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공용 양식과 분류체계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345F9-CA8C-405A-A5A0-696748C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F377D-F5AE-4AEC-91E9-14869AEC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반복 보고·회의자료 자동화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00F7C-8961-4634-96D6-20D4A0E2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3BE83-7193-46E5-ABE3-9A1277E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00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원본 대조·승인 절차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DA3FA-AA95-40BF-9676-62524A09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3147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E07AD4-F299-4CF8-9BA5-555E889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B018D-52C4-40B7-8376-CA6EC19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목표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91DF90-0981-4C01-96E2-E2813D0E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F5DB41-4848-4C77-8CE8-E2713D66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현업이 자료를 직접 정리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5EC0EA-480A-481D-B3B8-AD0D76D7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410AD-A9BB-4BE2-9788-88CE195A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AI 결과를 검토하며 활용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07EF3-C0AB-4303-83A3-DAA72EE3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9A1A8D-3E34-41F0-B88C-A1F37FE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작은 PoC를 KPI로 검증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6C616-1A25-4E45-B99A-DD987B2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920DFE-5682-4B1C-AD58-F4F91143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00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훈련과 개선과제의 연결</a:t>
            </a:r>
          </a:p>
        </p:txBody>
      </p:sp>
    </p:spTree>
    <p:extLst>
      <p:ext uri="{BB962C8B-B14F-4D97-AF65-F5344CB8AC3E}">
        <p14:creationId xmlns:p14="http://schemas.microsoft.com/office/powerpoint/2010/main" val="235702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A01D5B-0B8B-4B18-96A1-22EBDA92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65DB4-73B2-45F3-848A-C147E58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92CA5-DE45-473B-B161-35F7315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04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46891-0549-4ADF-8658-4D57881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F625D-40A8-4D1B-99C3-77C733B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439FA-0306-40DD-8882-03F12689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DACEC-CB39-4F8D-8A40-3CFD43A4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4. 사전진단은 가설로 두고 현장에서 보정합니다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D0098-ED40-4EC2-828E-0FAAF1E0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결과분석 문서의 일부 공정 예시는 KGF 공식 사업 정보와 일치 여부를 확인하지 못했습니다.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BA2F7-63D9-469D-8883-BF5E9D21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953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2B7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E5FC3-AF30-4FF5-8374-20D1DA7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2B31"/>
                </a:solidFill>
              </a:defRPr>
            </a:pPr>
            <a:r>
              <a:rPr sz="1875" b="1">
                <a:solidFill>
                  <a:srgbClr val="D52B31"/>
                </a:solidFill>
              </a:rPr>
              <a:t>사실로 단정하지 않을 내용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1AAB7-63C5-453F-8C9C-E232CA71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13E80-E5A7-4039-89A3-C080195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모터 성능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8AF0E-80AF-4DC9-98F4-6F94566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CE2A8-078A-461D-9F03-A5077768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프레스·조립·검사 공정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36733-C851-4B34-B781-D5325E6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3DD63-E9EA-4484-8D41-47F50605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특정 설비·시스템 운영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FE3579-6CB3-4B34-AA10-824C9613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0F32F-4F69-4981-9C5A-E92040FE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다른 기업의 자동 템플릿 문구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6848E-1C82-4B33-9326-75C87D4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5238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7F5F1"/>
          </a:solidFill>
          <a:ln xmlns:a="http://schemas.openxmlformats.org/drawingml/2006/main" w="9525">
            <a:solidFill>
              <a:srgbClr val="A9D9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BFDFF-29E2-46BF-B03C-E87D0204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06F"/>
                </a:solidFill>
              </a:defRPr>
            </a:pPr>
            <a:r>
              <a:rPr sz="1875" b="1">
                <a:solidFill>
                  <a:srgbClr val="16806F"/>
                </a:solidFill>
              </a:rPr>
              <a:t>현장에서 확인할 내용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3C2E7-9526-4F47-B057-89C5B505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9A2CC-E027-4EAB-AFFC-53739ED9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제품군별 품질 이슈와 검사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DFAC8-1068-4C37-AF20-CF3572DA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F66F1-4050-4E5E-B422-1C690953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생산계획·재고 보고의 실제 흐름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CB0C3-0C7B-4B11-B8B3-20556E78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FF4E0-729E-4609-814C-CE8EDDAA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사용 가능한 자료의 위치·형식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03DD7-0372-42A1-997B-E648E5DE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1F0BB-5476-44D9-9BC2-C7878D31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</a:defRPr>
            </a:pPr>
            <a:r>
              <a:rPr sz="1425" b="0">
                <a:solidFill>
                  <a:srgbClr val="243B53"/>
                </a:solidFill>
              </a:rPr>
              <a:t>AI 입력 가능 범위와 최종 검토자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01D55-8C86-4731-9A6D-3E902594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첫 멘트: “사전진단은 가설로 두고, 오늘 실제 업무와 데이터 흐름을 확인해 우선순위를 보정하겠습니다.”</a:t>
            </a:r>
          </a:p>
        </p:txBody>
      </p:sp>
    </p:spTree>
    <p:extLst>
      <p:ext uri="{BB962C8B-B14F-4D97-AF65-F5344CB8AC3E}">
        <p14:creationId xmlns:p14="http://schemas.microsoft.com/office/powerpoint/2010/main" val="655934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A92A37-309C-4FA6-9D22-81A7FB43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EE5E5-91D7-477C-8523-793F13A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4546F-B1DF-4BCE-8932-40D7DE29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05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695E-2CFE-4891-82CD-A3310F0C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6DB12-A43D-417C-9D23-C6917CC7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D8BFB-C92D-4390-8F6F-8DE644AE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C9DD2-D08A-47BA-BC79-DF3EC97F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5. 컨설팅 진행 시나리오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06E70-5874-4643-BA3A-57A090E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발표보다 질문과 합의에 더 많은 시간을 두고, 첫 적용 과제를 함께 고릅니다.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2BAF1-1EBB-433F-8ABC-F84354C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952625" cy="22479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84F35-23A5-4DC0-92D3-73EE0793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47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2B31"/>
                </a:solidFill>
              </a:defRPr>
            </a:pPr>
            <a:r>
              <a:rPr sz="1425" b="1">
                <a:solidFill>
                  <a:srgbClr val="D52B3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F74F4-AA87-43FE-918E-BAA100AF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76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기업 이해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2C37-AB9E-4CE4-86BC-56ED2CF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385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제품군·생산·품질 맥락 공유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1DFD-54DC-4021-A886-CCD1635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06F"/>
                </a:solidFill>
              </a:defRPr>
            </a:pPr>
            <a:r>
              <a:rPr sz="1800" b="1">
                <a:solidFill>
                  <a:srgbClr val="1680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F38CA-538D-49B1-A9C4-45C09F1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90800"/>
            <a:ext cx="1952625" cy="22479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88DA5-F4EA-4395-9F8D-5D7C74E7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47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2B31"/>
                </a:solidFill>
              </a:defRPr>
            </a:pPr>
            <a:r>
              <a:rPr sz="1425" b="1">
                <a:solidFill>
                  <a:srgbClr val="D52B31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A5445-6D4B-4950-8B17-D20F813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76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현장 인터뷰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A4EB2-09B2-4572-B6FB-4E28E0D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385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반복 업무·Pain Point·자료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9147B-D9D7-48AC-A4C5-8A97634A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06F"/>
                </a:solidFill>
              </a:defRPr>
            </a:pPr>
            <a:r>
              <a:rPr sz="1800" b="1">
                <a:solidFill>
                  <a:srgbClr val="16806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A9C9B-5F4F-445B-8C38-A049393B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952625" cy="22479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F04C8-3292-42F7-B16F-0EB5C112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847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2B31"/>
                </a:solidFill>
              </a:defRPr>
            </a:pPr>
            <a:r>
              <a:rPr sz="1425" b="1">
                <a:solidFill>
                  <a:srgbClr val="D52B31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42CE5-7E87-4290-A5C5-EF6A51DF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276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과제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9DC0F-6E9B-4513-BD8C-9001D7A5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385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효과·난이도 기준 Quick Win 선정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03095-614C-4834-BFCE-A4998F2E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06F"/>
                </a:solidFill>
              </a:defRPr>
            </a:pPr>
            <a:r>
              <a:rPr sz="1800" b="1">
                <a:solidFill>
                  <a:srgbClr val="16806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47F8E-A33D-40C3-9B66-4C7261DF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90800"/>
            <a:ext cx="1952625" cy="22479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E39B4-8A13-4F71-96CE-0429921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47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2B31"/>
                </a:solidFill>
              </a:defRPr>
            </a:pPr>
            <a:r>
              <a:rPr sz="1425" b="1">
                <a:solidFill>
                  <a:srgbClr val="D52B31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B5CC5-BEBA-42E5-ABDE-4778697C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훈련 설계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91F38-D542-4C3F-A876-AEDE0B77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385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대상자·데이터·산출물 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CBDC-F38E-4985-AA48-7BE1B7EF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766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806F"/>
                </a:solidFill>
              </a:defRPr>
            </a:pPr>
            <a:r>
              <a:rPr sz="1800" b="1">
                <a:solidFill>
                  <a:srgbClr val="16806F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03A50-868E-44A4-AB6A-178555CC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90800"/>
            <a:ext cx="1952625" cy="22479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54DCA-E4BB-4A93-9806-0F639657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8479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2B31"/>
                </a:solidFill>
              </a:defRPr>
            </a:pPr>
            <a:r>
              <a:rPr sz="1425" b="1">
                <a:solidFill>
                  <a:srgbClr val="D52B31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5F4D0-65C3-4991-82FE-1A70977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2766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다음 단계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037E8-9C75-436E-B7AE-8FF61DA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38575"/>
            <a:ext cx="147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책임자·샘플 자료·일정 확정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DDC69A-19F5-4C84-AFD5-E3994247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96678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798FB-0C3A-483A-B442-835EDDFC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권장 비중: 맥락 공유 20% · 질문과 인터뷰 50% · 과제·자료·일정 합의 30%</a:t>
            </a:r>
          </a:p>
        </p:txBody>
      </p:sp>
    </p:spTree>
    <p:extLst>
      <p:ext uri="{BB962C8B-B14F-4D97-AF65-F5344CB8AC3E}">
        <p14:creationId xmlns:p14="http://schemas.microsoft.com/office/powerpoint/2010/main" val="1380786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C078C5-97F1-4DA7-BEA2-8874FF11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F909E-B575-479B-93C1-C4D41EE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C831F-7926-45B2-837E-CDC907B3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06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66F85-3EB2-468D-8AC9-E81E5C9C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6382D-9C49-4B17-9CD0-B231235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2F55C-89BF-401B-929E-F5749829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12922-5813-48AA-811E-904F9F7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6. KGF 수준진단 컨설팅 방향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7A1FC-0A92-472D-8C42-1DC6EAD9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소재 제조와 품질 운영의 강점을 해치지 않고, 현장 운영의 가시성을 높이는 AI부터 시작합니다.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87AE-3896-4C07-8078-85439DA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BC8FF-B449-435E-8851-30D6337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082B2-4022-4125-8699-6CD1142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기업 맥락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F9B95-5ABF-43B2-A866-FDDE9957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05DFB-6513-4FC3-A499-A1C16329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95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Glass / Silica / Carbon Fiber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67DB9-87DE-4631-9813-1115613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3D108-7BFE-4548-81C2-59A9BD70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Filter Bag · Composite Materials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AA2C5-8A62-4E35-8C57-0BBCD496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1D80E-9B4A-4441-ADEA-FB8FC6E0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Oxi-PAN Felt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13DAB-0573-454A-8B42-95B109E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38866-0622-4C09-BE02-713F862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내열·특수소재와 복합재료 R&amp;D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DB0F8-354F-4A50-8473-5EDB336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C408E-55A1-4F2A-9E1A-18786882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2DD66-6EC0-4199-AFA1-35EDD98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피할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077FA-7284-4470-A426-D1C426B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6E351-3E44-47C8-B1E4-51036CD4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95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AI 기능 설명부터 시작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61A4C-128B-45E9-981B-C0A32DF2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0C5D2-9498-4D85-B8D2-504AD1F2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점수로 기업 전체를 평가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F50D5-AC3A-4CEE-BB49-526797AA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AF8B51-8BD0-49A8-B182-7E3316D5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19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타사 공정 문구를 그대로 사용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BCE8F-A910-42AB-A48E-F472F98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38E5EE-3EC1-49F6-8BE3-3ACAB785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814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대규모 구축을 먼저 제안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1C978-7E6A-4455-A8D5-3D39D98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C8D92C-4E02-4A7F-8B23-45BE84AD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7170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3490F6-9CEE-4239-82DA-D81C084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추천 방식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89C17E-05A8-4D6B-98F8-B03C4686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0F9B12-3D86-4A16-AC23-763419E8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현장 문제 → 데이터 →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824DF9-2D45-42FD-8275-14256BA4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93B7F-0758-4E04-85C2-9040949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품질·계획·보고 업무 우선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A6033-E25A-48A4-B8C6-180DB987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7BEC15-5EB1-4BD6-A513-2B23F57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작은 PoC로 효과 검증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92A242-C0C7-4B74-9DD4-8E2502AF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CE4BE8-1252-4807-8473-56952EB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814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훈련과 개선과제를 통합</a:t>
            </a:r>
          </a:p>
        </p:txBody>
      </p:sp>
    </p:spTree>
    <p:extLst>
      <p:ext uri="{BB962C8B-B14F-4D97-AF65-F5344CB8AC3E}">
        <p14:creationId xmlns:p14="http://schemas.microsoft.com/office/powerpoint/2010/main" val="2122322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15DD63-CF9F-46C9-922A-760351D4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68C70-099B-4343-8023-0F34481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CB73B-819C-45D6-8519-B831729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07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C1449-E531-4FA7-AE0E-7133F1A0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29CFD-B04F-4C90-8F78-DA6D853C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ED7B3-DCE1-45DD-83CA-D02D839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D5F0A-2D15-4B97-90E0-9E5ADE6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7. 현장 확인 4모듈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E6275-E2F6-445A-BD7D-8D47A9CC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아래 질문의 답이 모이면 훈련로드맵의 핵심 범위가 결정됩니다.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F5215-5EDB-485A-B0F8-E545C50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53340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B3755-CADE-4424-B338-D76CA22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06F"/>
                </a:solidFill>
              </a:defRPr>
            </a:pPr>
            <a:r>
              <a:rPr sz="1725" b="1">
                <a:solidFill>
                  <a:srgbClr val="16806F"/>
                </a:solidFill>
              </a:rPr>
              <a:t>생산·계획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4DB85-3D0B-49BD-8ED4-64FFE1AA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19671-52E4-4C28-A251-8E0493BF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계획 변경은 언제·왜 발생하는가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41B4D-66DC-487D-92BD-ACFF005E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E1628-9D1A-4B4F-A1F6-8D86A1A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384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실적·지연 사유는 어디에 남는가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9DC18-606C-46A5-9413-2EBDC56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66D5A-7221-4852-8420-B8A3EC11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051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재고 이슈는 누가 어떤 보고로 보는가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A7533-E5B0-4025-B8CB-6EC6680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3340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F7041-30C6-44AE-8DEC-E57874D5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62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2B31"/>
                </a:solidFill>
              </a:defRPr>
            </a:pPr>
            <a:r>
              <a:rPr sz="1725" b="1">
                <a:solidFill>
                  <a:srgbClr val="D52B31"/>
                </a:solidFill>
              </a:rPr>
              <a:t>품질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0B497-9FEF-479C-A9FB-08BDE39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F0C9A-E9AD-4771-8481-735C50BC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717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반복되는 이슈는 무엇인가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EF4FA-C632-4BED-9844-F198ADC4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14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9280A-8DB1-489B-A63D-1F51194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384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불량·조치·검토는 어떻게 연결되는가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92AAB-9D89-45EC-8746-5BF397BF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A1E7A-A788-47E4-8713-6A519F29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05175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시험·검사 자료의 기준은 무엇인가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693C4-20DD-4EBD-8995-7A6B1B42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3340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AD61D-653F-4487-9CAB-CFE8C27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06F"/>
                </a:solidFill>
              </a:defRPr>
            </a:pPr>
            <a:r>
              <a:rPr sz="1725" b="1">
                <a:solidFill>
                  <a:srgbClr val="16806F"/>
                </a:solidFill>
              </a:rPr>
              <a:t>R&amp;D·기술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E7108-BAF6-4782-9DEA-D9E18B15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A1FDA-E27B-4535-96E7-EEFF826B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반복되는 시험·문서 업무는 무엇인가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4CBE8-1285-41EC-8BE7-87B16922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96DE68-4D5D-4327-BDC5-9F58C48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387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기술 자료의 검색·공유 기준은 있는가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3E17CE-73CA-423D-A073-3966786F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28365-4F08-482F-80C0-9D3CD251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AI 결과의 검증 책임자는 누구인가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A18EF2-9E6D-46FB-BA38-EC305E22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53340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9299A-F23C-44D7-B7DD-EA59DD22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62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52B31"/>
                </a:solidFill>
              </a:defRPr>
            </a:pPr>
            <a:r>
              <a:rPr sz="1725" b="1">
                <a:solidFill>
                  <a:srgbClr val="D52B31"/>
                </a:solidFill>
              </a:rPr>
              <a:t>IT·HRD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F67480-542B-4AE0-BE34-CEABE688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48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5E6CE4-BE7C-4C7B-BF38-76101E5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720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AI 보안 가이드가 있는가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F8A246-DB0F-47E2-AD30-81EA6F3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C98950-D47B-4F84-85DE-178283B9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자료 마스킹은 가능한가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B41C98-BD5A-4424-94BA-987FDA53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FC00FF-288D-49DC-8784-C3E6EC81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054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PoC를 이끌 담당자·TF가 있는가</a:t>
            </a:r>
          </a:p>
        </p:txBody>
      </p:sp>
    </p:spTree>
    <p:extLst>
      <p:ext uri="{BB962C8B-B14F-4D97-AF65-F5344CB8AC3E}">
        <p14:creationId xmlns:p14="http://schemas.microsoft.com/office/powerpoint/2010/main" val="1417295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62E73A-5700-41D8-BC0B-C5708188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50FD5-D1B5-4037-9112-A05B560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0E983-0C22-4895-A789-8BEADED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08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4261-E644-416D-ADCB-C127755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DD933-47B1-4D0E-B7E1-BFE649C2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5CD6A-5086-4736-9793-41830BB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11731-0159-4A07-BDCC-4FBB3BE0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8. 현장 확인 후 선정할 훈련과제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642EA-0996-4AA0-8659-8F2EF1F5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과제명은 AI 기술이 아니라, 현장에서 체감할 업무성과 중심으로 확정합니다.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224DA-39A2-4285-95FB-94FC81B3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193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677C2-0B6A-4797-88FA-A9FB6BA4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2B0AD-B602-4C4D-89B5-DFB62582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812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품질 이슈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F1D1D-0287-4BFD-8650-15836E03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812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불량·조치·검토 이력을 공용 양식으로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3D9F-B4B5-47EE-87DF-7457CFB0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90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806F"/>
                </a:solidFill>
              </a:defRPr>
            </a:pPr>
            <a:r>
              <a:rPr sz="1125" b="1">
                <a:solidFill>
                  <a:srgbClr val="16806F"/>
                </a:solidFill>
              </a:rPr>
              <a:t>B3·B4 보완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7C874-04AF-4308-887E-7F031524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CCD86-14B8-4CF0-A36C-275B1A47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3747E-EDFF-47A1-8D49-FCDCB61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241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반복 보고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C6BB3-E28F-4EE1-8166-604CC54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2417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주간 보고·회의자료·시험 요약 초안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B4FDA-C67C-49A7-BDFA-F44DAF72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806F"/>
                </a:solidFill>
              </a:defRPr>
            </a:pPr>
            <a:r>
              <a:rPr sz="1125" b="1">
                <a:solidFill>
                  <a:srgbClr val="16806F"/>
                </a:solidFill>
              </a:rPr>
              <a:t>B1 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448DC-08AD-4E44-9EF3-AF454E84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E729F-0A07-4FBA-9F8F-C0284F7D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P3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B7568-00D5-4920-B723-6F74FC9F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계획·재고 가시화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227A3-75EE-4FCF-9E6B-F7BE4A2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계획 대비 실적·지연·재고 이슈 요약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B6FE2-139D-47E6-A357-3526EBB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806F"/>
                </a:solidFill>
              </a:defRPr>
            </a:pPr>
            <a:r>
              <a:rPr sz="1125" b="1">
                <a:solidFill>
                  <a:srgbClr val="16806F"/>
                </a:solidFill>
              </a:rPr>
              <a:t>A1·A2 활용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AF51F-5718-4E43-9D67-2BF4AA7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B1C19-7DF8-40B0-9412-8C5886D4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P4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5FB86-4458-4B22-B9AE-0E5EEAD4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100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현장 미니앱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D47493-F1A6-416D-A8BE-4BAFCAA6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1007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자료 검색·이슈 등록·보고 보조 도구 제작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F4180-2159-4B15-8A11-3D5AA699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96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806F"/>
                </a:solidFill>
              </a:defRPr>
            </a:pPr>
            <a:r>
              <a:rPr sz="1125" b="1">
                <a:solidFill>
                  <a:srgbClr val="16806F"/>
                </a:solidFill>
              </a:rPr>
              <a:t>B5 강화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28826-7C48-44FD-B136-158A0246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1076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78548-DB99-4E5F-992B-89BA1327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2B31"/>
                </a:solidFill>
              </a:defRPr>
            </a:pPr>
            <a:r>
              <a:rPr sz="1200" b="1">
                <a:solidFill>
                  <a:srgbClr val="D52B31"/>
                </a:solidFill>
              </a:rPr>
              <a:t>P5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14262-6F36-4A77-AEF8-2583191D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530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제조 AI PoC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C43B3D-CE03-4548-8105-CAF0CF78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530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53"/>
                </a:solidFill>
              </a:defRPr>
            </a:pPr>
            <a:r>
              <a:rPr sz="1200" b="0">
                <a:solidFill>
                  <a:srgbClr val="243B53"/>
                </a:solidFill>
              </a:rPr>
              <a:t>실제 데이터 확보 후 이상 패턴 탐색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48EB69-1909-4557-8236-06372167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62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6806F"/>
                </a:solidFill>
              </a:defRPr>
            </a:pPr>
            <a:r>
              <a:rPr sz="1125" b="1">
                <a:solidFill>
                  <a:srgbClr val="16806F"/>
                </a:solidFill>
              </a:rPr>
              <a:t>B6 단계 적용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F28FC-0637-40CB-B7C5-15B024AE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P1 또는 P2처럼 데이터가 비교적 단순하고 결과를 검토하기 쉬운 과제부터 시작하는 것을 권장합니다.</a:t>
            </a:r>
          </a:p>
        </p:txBody>
      </p:sp>
    </p:spTree>
    <p:extLst>
      <p:ext uri="{BB962C8B-B14F-4D97-AF65-F5344CB8AC3E}">
        <p14:creationId xmlns:p14="http://schemas.microsoft.com/office/powerpoint/2010/main" val="720882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D7E927-7C94-4A36-8E49-85F100C8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27586-882E-4447-927F-76B1C566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D98"/>
                </a:solidFill>
              </a:defRPr>
            </a:pPr>
            <a:r>
              <a:rPr sz="975" b="1">
                <a:solidFill>
                  <a:srgbClr val="627D98"/>
                </a:solidFill>
              </a:rPr>
              <a:t>KGF Co.,Ltd.  |  AI 훈련로드맵 사전 수준진단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8CC3C-902B-488A-A504-C5607E4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806F"/>
                </a:solidFill>
              </a:defRPr>
            </a:pPr>
            <a:r>
              <a:rPr sz="975" b="1">
                <a:solidFill>
                  <a:srgbClr val="16806F"/>
                </a:solidFill>
              </a:rPr>
              <a:t>09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80C65-E585-4FED-A688-31819EC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A479-6056-47BF-B1C6-77C3A4AB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현장 컨설팅용 | 진단 해석 · 현장 확인 · 훈련과제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8BD29-82B8-452C-93BB-B5130AC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27D98"/>
                </a:solidFill>
              </a:defRPr>
            </a:pPr>
            <a:r>
              <a:rPr sz="750" b="0">
                <a:solidFill>
                  <a:srgbClr val="627D9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8D698-C1DE-49E2-B205-076AE8AF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43"/>
                </a:solidFill>
              </a:defRPr>
            </a:pPr>
            <a:r>
              <a:rPr sz="2775" b="1">
                <a:solidFill>
                  <a:srgbClr val="102A43"/>
                </a:solidFill>
              </a:rPr>
              <a:t>9. 최종 제안: 이번 컨설팅의 성공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17B50-F35F-4B3E-A8F3-2CE1BD65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7D98"/>
                </a:solidFill>
              </a:defRPr>
            </a:pPr>
            <a:r>
              <a:rPr sz="1425" b="0">
                <a:solidFill>
                  <a:srgbClr val="627D98"/>
                </a:solidFill>
              </a:rPr>
              <a:t>AI를 많이 제안하는 것이 아니라, KGF가 납득할 수 있는 1~2개 실행과제를 함께 찾는 것입니다.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5390-D921-46D6-8FDF-7C1B0015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3337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AE6B3-6085-4D3E-B461-94CB69D4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5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53872-CF59-4F80-8391-412C8BE1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진단 결론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9CAB9-ABAA-4B28-93AA-EC346C2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F5E2A-7B93-4499-9504-A760A6D4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Level 1: AX 입문 단계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ECAAA-406B-4D19-BA7F-01B65CC7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9AFC9-6EFA-4450-9BC7-00E2C10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보안·양식·검토기준 정비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D2EC7-6D3E-4730-BBD7-6BC3DDF8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F8DD4-5F38-4087-9DC9-7F73D88C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작은 실무 과제부터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16DD5-8AA5-4217-AF71-D63F2CA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4AF44-B433-4170-9E1B-2239426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전사 구축은 이후 검토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F7653-1265-41D5-B288-115401D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B3FAD-E86C-4AD6-B3A2-B9E6622F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95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DF883-72FC-4F91-AC3C-BE766808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193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현장 산출물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9067AF-7702-4FF9-AF45-5F95DA6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5C6970-3D3A-4779-80BA-805E134E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146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확인된 Pain Point 3~5개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E6FD7-02FA-4830-9F29-C1EFCB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D59CA8-FEE3-4FCC-8B1B-187F06C4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76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활용 가능한 자료 목록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BEA23-08AB-44A8-BA8E-AFB8266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FFD32-42AE-4958-A61C-9C90124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38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우선 AI 과제 1~2개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609EF-9080-4E3C-995E-307993D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E0566-1B1B-44FB-9AA8-445D544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훈련대상·역량 Gap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32B865-5C4B-4847-BFA8-C3AC8E8A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3337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07573-C087-4A40-A3AE-DB40305D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95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6B49E-9B43-4A5F-BB5F-708A427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다음 단계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37361D-979C-42BD-BE27-7A5A7CB4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EEF5DC-91C5-4027-AEBF-97687A3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마스킹 샘플 자료 확보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C6D80-3A91-43DC-A308-50FFF01E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AF0215-1F29-4490-AB23-DAC77477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766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담당자·검토자 지정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78DB8-9F24-49E9-BB00-495E87F7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AFC7A5-8AFB-4861-9A45-608B8671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PoC·보고 자동화 테스트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4429E-B8C2-4BE0-BE7D-71FA12FE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BE57C0-0C87-41B2-BBAF-9B401384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B53"/>
                </a:solidFill>
              </a:defRPr>
            </a:pPr>
            <a:r>
              <a:rPr sz="1275" b="0">
                <a:solidFill>
                  <a:srgbClr val="243B53"/>
                </a:solidFill>
              </a:rPr>
              <a:t>확산 또는 고도화 결정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98EF5A-E594-49BA-90DF-7868623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382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80245-6B2E-4AA5-97C6-51F6158B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85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“AI 도입이 목적이 아니라, KGF의 생산·품질 운영을 더 선명하게 연결하는 첫 훈련과제를 함께 정하겠습니다.”</a:t>
            </a:r>
          </a:p>
        </p:txBody>
      </p:sp>
    </p:spTree>
    <p:extLst>
      <p:ext uri="{BB962C8B-B14F-4D97-AF65-F5344CB8AC3E}">
        <p14:creationId xmlns:p14="http://schemas.microsoft.com/office/powerpoint/2010/main" val="915004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2026-09-01T13:46:23.7330000Z</dcterms:created>
  <dcterms:modified xsi:type="dcterms:W3CDTF">2026-09-01T13:46:23.7340000Z</dcterms:modified>
</coreProperties>
</file>